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90" r:id="rId3"/>
    <p:sldId id="291" r:id="rId4"/>
    <p:sldId id="292" r:id="rId6"/>
    <p:sldId id="293" r:id="rId7"/>
    <p:sldId id="294" r:id="rId8"/>
    <p:sldId id="295" r:id="rId9"/>
    <p:sldId id="296" r:id="rId10"/>
    <p:sldId id="297" r:id="rId11"/>
    <p:sldId id="310" r:id="rId12"/>
    <p:sldId id="298" r:id="rId13"/>
    <p:sldId id="299" r:id="rId14"/>
    <p:sldId id="300" r:id="rId15"/>
    <p:sldId id="312" r:id="rId16"/>
    <p:sldId id="301" r:id="rId17"/>
    <p:sldId id="302" r:id="rId18"/>
    <p:sldId id="303" r:id="rId19"/>
    <p:sldId id="311" r:id="rId20"/>
    <p:sldId id="304" r:id="rId21"/>
    <p:sldId id="305" r:id="rId22"/>
    <p:sldId id="306" r:id="rId23"/>
    <p:sldId id="307" r:id="rId24"/>
    <p:sldId id="308" r:id="rId25"/>
    <p:sldId id="30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/>
                <a:gridCol w="2443374"/>
                <a:gridCol w="2443374"/>
                <a:gridCol w="2443374"/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193891">
                <a:tc>
                  <a:txBody>
                    <a:bodyPr/>
                    <a:lstStyle/>
                    <a:p>
                      <a:r>
                        <a:rPr sz="1600">
                          <a:latin typeface="Arial" panose="020B0604020202020204"/>
                        </a:rPr>
                        <a:t>Deepanvitha Katari</a:t>
                      </a:r>
                      <a:endParaRPr sz="1600">
                        <a:latin typeface="Arial" panose="020B060402020202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 panose="020B0604020202020204"/>
                        </a:rPr>
                        <a:t>deepanvithakatari19@gmail.com</a:t>
                      </a:r>
                      <a:endParaRPr sz="1600">
                        <a:latin typeface="Arial" panose="020B060402020202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 panose="020B0604020202020204"/>
                        </a:rPr>
                        <a:t>+91 9542967904</a:t>
                      </a:r>
                      <a:endParaRPr sz="1600">
                        <a:latin typeface="Arial" panose="020B060402020202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Domain of  Project – </a:t>
            </a:r>
            <a:r>
              <a:rPr lang="en-US" sz="2400" b="1">
                <a:highlight>
                  <a:srgbClr val="FFFF00"/>
                </a:highlight>
              </a:rPr>
              <a:t>Education / Career Development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Project Tile – </a:t>
            </a:r>
            <a:r>
              <a:rPr lang="en-US" sz="2400" b="1">
                <a:solidFill>
                  <a:srgbClr val="002060"/>
                </a:solidFill>
                <a:highlight>
                  <a:srgbClr val="FFFF00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InterviewTwin – RAG-Powered Personalized Interview Trainer Agent (PS-22)</a:t>
            </a:r>
            <a:endParaRPr lang="en-IN" sz="2400" b="1">
              <a:highlight>
                <a:srgbClr val="FFFF00"/>
              </a:highlight>
            </a:endParaRPr>
          </a:p>
        </p:txBody>
      </p:sp>
      <p:pic>
        <p:nvPicPr>
          <p:cNvPr id="2" name="Picture 1" descr="WhatsApp Image 2026-09-11 at 6.03.0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8920" y="3632200"/>
            <a:ext cx="805180" cy="1034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Interview Trainer Agent (PS-22)</a:t>
            </a:r>
            <a:r>
              <a:rPr lang="en-US" dirty="0"/>
              <a:t> </a:t>
            </a:r>
            <a:endParaRPr lang="en-US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  <a:endParaRPr lang="en-US" dirty="0"/>
          </a:p>
          <a:p>
            <a:pPr fontAlgn="base"/>
            <a:r>
              <a:rPr lang="en-US" dirty="0"/>
              <a:t>Job seekers preparing for interviews often struggle with </a:t>
            </a:r>
            <a:r>
              <a:rPr lang="en-US" b="1" dirty="0"/>
              <a:t>structuring answers, anticipating role-specific questions, and identifying their own skill gaps</a:t>
            </a:r>
            <a:r>
              <a:rPr lang="en-US" dirty="0"/>
              <a:t>. Interview questions, industry expectations, and behavioral guidelines are scattered across recruitment portals and professional networks. Without </a:t>
            </a:r>
            <a:r>
              <a:rPr lang="en-US" b="1" dirty="0"/>
              <a:t>personalized, real-time coaching</a:t>
            </a:r>
            <a:r>
              <a:rPr lang="en-US" dirty="0"/>
              <a:t>, many candidates underperform in interviews despite being genuinely qualified. </a:t>
            </a:r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  <a:endParaRPr lang="en-US" dirty="0"/>
          </a:p>
          <a:p>
            <a:pPr fontAlgn="base"/>
            <a:r>
              <a:rPr lang="en-US" dirty="0"/>
              <a:t>Build an </a:t>
            </a:r>
            <a:r>
              <a:rPr lang="en-US" b="1" dirty="0"/>
              <a:t>AI-powered Interview Trainer Agent (InterviewTwin)</a:t>
            </a:r>
            <a:r>
              <a:rPr lang="en-US" dirty="0"/>
              <a:t> that delivers </a:t>
            </a:r>
            <a:r>
              <a:rPr lang="en-US" b="1" dirty="0"/>
              <a:t>personalized interview questions and preparation strategies</a:t>
            </a:r>
            <a:r>
              <a:rPr lang="en-US" dirty="0"/>
              <a:t> based on a candidate’s resume, experience level, and target job role. The solution should: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Personalized Question Sets</a:t>
            </a:r>
            <a:r>
              <a:rPr lang="en-US" dirty="0"/>
              <a:t> – Generate tailored interview questions based on resume, job role, and experience level.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RAG-Based Retrieval</a:t>
            </a:r>
            <a:r>
              <a:rPr lang="en-US" dirty="0"/>
              <a:t> – Retrieve role-specific questions and behavioral scenarios from a real interview knowledge base.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Resume &amp; Job Match Analysis</a:t>
            </a:r>
            <a:r>
              <a:rPr lang="en-US" dirty="0"/>
              <a:t> – Compare a resume against a job description to identify strengths and skill gaps.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Adaptive Mock Interviews</a:t>
            </a:r>
            <a:r>
              <a:rPr lang="en-US" dirty="0"/>
              <a:t> – Adjust question difficulty and focus area in real time based on answers.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Technical &amp; Soft Skill Coverage</a:t>
            </a:r>
            <a:r>
              <a:rPr lang="en-US" dirty="0"/>
              <a:t> –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Technical Questions</a:t>
            </a:r>
            <a:r>
              <a:rPr lang="en-US" dirty="0"/>
              <a:t> (role-specific, difficulty-adjusted)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Behavioral Questions</a:t>
            </a:r>
            <a:r>
              <a:rPr lang="en-US" dirty="0"/>
              <a:t> (STAR-style scenarios)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HR Questions</a:t>
            </a:r>
            <a:r>
              <a:rPr lang="en-US" dirty="0"/>
              <a:t> (motivation, career goals, fit)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Model Answers &amp; Tips</a:t>
            </a:r>
            <a:r>
              <a:rPr lang="en-US" dirty="0"/>
              <a:t> (score, feedback, improvement tips) 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Preparation Report</a:t>
            </a:r>
            <a:r>
              <a:rPr lang="en-US" dirty="0"/>
              <a:t> – Show a readiness score, strong/weak areas, and a personalized study plan. </a:t>
            </a:r>
            <a:endParaRPr lang="en-US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/>
          </a:p>
          <a:p>
            <a:r>
              <a:rPr lang="en-US" b="1"/>
              <a:t>Proposed Solution: InterviewTwin – AI-Powered Interview Trainer Agent</a:t>
            </a:r>
            <a:endParaRPr lang="en-US" b="1"/>
          </a:p>
          <a:p>
            <a:r>
              <a:rPr lang="en-US"/>
              <a:t>The proposed solution is a </a:t>
            </a:r>
            <a:r>
              <a:rPr lang="en-US" b="1"/>
              <a:t>RAG-grounded, personalized interview coaching agent</a:t>
            </a:r>
            <a:r>
              <a:rPr lang="en-US"/>
              <a:t> built using </a:t>
            </a:r>
            <a:r>
              <a:rPr lang="en-US" b="1"/>
              <a:t>IBM Bob, IBM watsonx.ai, and Granite Models</a:t>
            </a:r>
            <a:r>
              <a:rPr lang="en-US"/>
              <a:t> to provide personalized, real-time interview coaching. The system addresses challenges in generic interview prep, lack of resume-specific guidance, and static question banks through an intelligent, adaptive architecture.</a:t>
            </a:r>
            <a:endParaRPr lang="en-US"/>
          </a:p>
          <a:p>
            <a:r>
              <a:rPr lang="en-US"/>
              <a:t>At its core, the solution uses a </a:t>
            </a:r>
            <a:r>
              <a:rPr lang="en-US" b="1"/>
              <a:t>Retrieval-Augmented Generation (RAG)</a:t>
            </a:r>
            <a:r>
              <a:rPr lang="en-US"/>
              <a:t> pipeline to fetch real interview questions from a curated knowledge base of 1,400+ technical, behavioral, and HR questions. This data is embedded using IBM Granite’s embedding model and stored as a vector store, enabling semantic retrieval of the most relevant questions using Granite models.</a:t>
            </a:r>
            <a:endParaRPr lang="en-US"/>
          </a:p>
          <a:p>
            <a:r>
              <a:rPr lang="en-US"/>
              <a:t>The system works through four key stages:</a:t>
            </a:r>
            <a:endParaRPr lang="en-US"/>
          </a:p>
          <a:p>
            <a:r>
              <a:rPr lang="en-US" b="1"/>
              <a:t>Resume &amp; JD Analysis</a:t>
            </a:r>
            <a:r>
              <a:rPr lang="en-US"/>
              <a:t> extracts a structured candidate profile from an uploaded resume and structured requirements from a pasted job description using Granite. </a:t>
            </a:r>
            <a:endParaRPr lang="en-US"/>
          </a:p>
          <a:p>
            <a:r>
              <a:rPr lang="en-US" b="1"/>
              <a:t>Gap Analysis</a:t>
            </a:r>
            <a:r>
              <a:rPr lang="en-US"/>
              <a:t> compares the candidate’s profile against the job description, producing a match score, strong matches, and missing skills. </a:t>
            </a:r>
            <a:endParaRPr lang="en-US"/>
          </a:p>
          <a:p>
            <a:r>
              <a:rPr lang="en-US" b="1"/>
              <a:t>Personalized RAG Retrieval &amp; Question Generation</a:t>
            </a:r>
            <a:r>
              <a:rPr lang="en-US"/>
              <a:t> retrieves relevant questions and tailors them using the candidate’s resume details and the job’s specific requirements, so questions sound like a real interviewer for that role. </a:t>
            </a:r>
            <a:endParaRPr lang="en-US"/>
          </a:p>
          <a:p>
            <a:r>
              <a:rPr lang="en-US" b="1"/>
              <a:t>Adaptive Evaluation &amp; Coaching</a:t>
            </a:r>
            <a:r>
              <a:rPr lang="en-US"/>
              <a:t> scores each answer, gives structured feedback and a model answer, and adapts the next question’s difficulty and focus area accordingly. </a:t>
            </a:r>
            <a:endParaRPr lang="en-US"/>
          </a:p>
          <a:p>
            <a:r>
              <a:rPr lang="en-US"/>
              <a:t>The solution includes a </a:t>
            </a:r>
            <a:r>
              <a:rPr lang="en-US" b="1"/>
              <a:t>user-friendly interview dashboard</a:t>
            </a:r>
            <a:r>
              <a:rPr lang="en-US"/>
              <a:t> (built with </a:t>
            </a:r>
            <a:r>
              <a:rPr lang="en-US" err="1"/>
              <a:t>Streamlit</a:t>
            </a:r>
            <a:r>
              <a:rPr lang="en-US"/>
              <a:t>) that shows the candidate’s job match score, live interview progress, and a final performance report.</a:t>
            </a:r>
            <a:endParaRPr lang="en-US"/>
          </a:p>
          <a:p>
            <a:r>
              <a:rPr lang="en-US"/>
              <a:t>IBM Bob is used to orchestrate agent workflows, while watsonx.ai ensures scalable model deployment, embeddings, and AI governance. Granite models power reasoning, summarization, and personalization.</a:t>
            </a:r>
            <a:endParaRPr lang="en-US"/>
          </a:p>
          <a:p>
            <a:r>
              <a:rPr lang="en-US"/>
              <a:t>Overall, this solution delivers an </a:t>
            </a:r>
            <a:r>
              <a:rPr lang="en-US" b="1"/>
              <a:t>end-to-end personalized interview coach</a:t>
            </a:r>
            <a:r>
              <a:rPr lang="en-US"/>
              <a:t> that helps candidates walk into interviews more prepared, confident, and aware of their own strengths and gaps.</a:t>
            </a:r>
            <a:endParaRPr lang="en-US"/>
          </a:p>
          <a:p>
            <a:pPr fontAlgn="base"/>
            <a:endParaRPr lang="en-US"/>
          </a:p>
          <a:p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Bob platform </a:t>
            </a:r>
            <a:r>
              <a:rPr lang="en-US" sz="1800"/>
              <a:t>- Used as the AI-assisted development environment to build, debug, and iterate the entire application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</a:t>
            </a:r>
            <a:r>
              <a:rPr lang="en-US" sz="1800" b="1" err="1"/>
              <a:t>Granite</a:t>
            </a:r>
            <a:r>
              <a:rPr lang="en-US" sz="1800" b="1"/>
              <a:t> model </a:t>
            </a:r>
            <a:r>
              <a:rPr lang="en-US" sz="1800"/>
              <a:t>-  </a:t>
            </a:r>
            <a:r>
              <a:rPr lang="en-US" sz="1800" err="1"/>
              <a:t>specifically</a:t>
            </a:r>
            <a:r>
              <a:rPr lang="en-US" sz="1800"/>
              <a:t> – granite-4-h-small (chat/generation) and granite-embedding-278m-multilingual (retrieval) – for resume/JD analysis, question personalization, answer evaluation, and semantic search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Cloud </a:t>
            </a:r>
            <a:r>
              <a:rPr lang="en-US" sz="1800"/>
              <a:t>– Specifically IBM Cloud Lite’s watsonx.ai and Watson Machine Learning services provide the infrastructure to run Granite models. IBM Cloud enables a </a:t>
            </a:r>
            <a:r>
              <a:rPr lang="en-US" sz="1800" b="1"/>
              <a:t>reliable, secure, and scalable environment</a:t>
            </a:r>
            <a:r>
              <a:rPr lang="en-US" sz="1800"/>
              <a:t> for deploying InterviewTwin.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RAG– </a:t>
            </a:r>
            <a:r>
              <a:rPr lang="en-US" sz="1800"/>
              <a:t>RAG to </a:t>
            </a:r>
            <a:r>
              <a:rPr lang="en-US" sz="1800" b="1"/>
              <a:t>fetch real data first, then generate intelligent answers</a:t>
            </a:r>
            <a:r>
              <a:rPr lang="en-US" sz="1800"/>
              <a:t>, grounding every interview question in a real dataset rather than free-form LLM generation.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Watsonx.ai - </a:t>
            </a:r>
            <a:r>
              <a:rPr lang="en-US" sz="1800"/>
              <a:t>For model deployment, embeddings, and AI governance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/>
              <a:t>Vector Database </a:t>
            </a:r>
            <a:r>
              <a:rPr lang="en-IN" sz="1800"/>
              <a:t>(JSON-based local vector store) – Stores Granite embeddings for 1,400+ interview questions, enabling semantic retrieval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endParaRPr lang="en-US"/>
          </a:p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Required Files created using IBM bob -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app.py</a:t>
            </a:r>
            <a:endParaRPr lang="en-US" sz="1800"/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requirements.txt</a:t>
            </a:r>
            <a:endParaRPr lang="en-US" sz="1800"/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src/granite_client.py </a:t>
            </a:r>
            <a:endParaRPr lang="en-US" sz="1800"/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src/retrieval.py, src/auth.py</a:t>
            </a:r>
            <a:endParaRPr lang="en-US" sz="1800"/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.env, src/document_parser.py</a:t>
            </a:r>
            <a:endParaRPr lang="en-US" sz="180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5375" y="1113155"/>
            <a:ext cx="4407535" cy="51631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IBM Bob Screenshots:</a:t>
            </a:r>
            <a:endParaRPr sz="2400" b="1">
              <a:sym typeface="Times New Roman" panose="02020603050405020304"/>
            </a:endParaRPr>
          </a:p>
        </p:txBody>
      </p:sp>
      <p:pic>
        <p:nvPicPr>
          <p:cNvPr id="3" name="Picture 2" descr="bob_fresh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89687"/>
            <a:ext cx="9217740" cy="54787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10 1613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323215"/>
            <a:ext cx="10485755" cy="5911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0 1614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" y="143510"/>
            <a:ext cx="5544820" cy="3350895"/>
          </a:xfrm>
          <a:prstGeom prst="rect">
            <a:avLst/>
          </a:prstGeom>
        </p:spPr>
      </p:pic>
      <p:pic>
        <p:nvPicPr>
          <p:cNvPr id="3" name="Picture 2" descr="Screenshot 2026-09-10 1615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155" y="3168650"/>
            <a:ext cx="6341745" cy="36125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InterviewTwin Architecture Blueprint</a:t>
            </a:r>
            <a:endParaRPr 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561749" y="1200000"/>
            <a:ext cx="10493347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Arial" panose="020B0604020202020204"/>
              </a:rPr>
              <a:t>1. Resume + Job Description  –  </a:t>
            </a:r>
            <a:r>
              <a:rPr sz="1400">
                <a:solidFill>
                  <a:srgbClr val="404040"/>
                </a:solidFill>
                <a:latin typeface="Arial" panose="020B0604020202020204"/>
              </a:rPr>
              <a:t>Candidate uploads a resume (PDF/DOCX/TXT) and pastes a real job description.</a:t>
            </a:r>
            <a:endParaRPr sz="1400">
              <a:solidFill>
                <a:srgbClr val="404040"/>
              </a:solidFill>
              <a:latin typeface="Arial" panose="020B0604020202020204"/>
            </a:endParaRP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Arial" panose="020B0604020202020204"/>
              </a:rPr>
              <a:t>2. IBM Granite – Structured Extraction  –  </a:t>
            </a:r>
            <a:r>
              <a:rPr sz="1400">
                <a:solidFill>
                  <a:srgbClr val="404040"/>
                </a:solidFill>
                <a:latin typeface="Arial" panose="020B0604020202020204"/>
              </a:rPr>
              <a:t>Granite extracts a structured candidate profile and structured job requirements, without inventing information.</a:t>
            </a:r>
            <a:endParaRPr sz="1400">
              <a:solidFill>
                <a:srgbClr val="404040"/>
              </a:solidFill>
              <a:latin typeface="Arial" panose="020B0604020202020204"/>
            </a:endParaRP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Arial" panose="020B0604020202020204"/>
              </a:rPr>
              <a:t>3. Gap Analysis  –  </a:t>
            </a:r>
            <a:r>
              <a:rPr sz="1400">
                <a:solidFill>
                  <a:srgbClr val="404040"/>
                </a:solidFill>
                <a:latin typeface="Arial" panose="020B0604020202020204"/>
              </a:rPr>
              <a:t>Granite compares the two, producing a job match score, strong/partial matches, and missing skills.</a:t>
            </a:r>
            <a:endParaRPr sz="1400">
              <a:solidFill>
                <a:srgbClr val="404040"/>
              </a:solidFill>
              <a:latin typeface="Arial" panose="020B0604020202020204"/>
            </a:endParaRP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Arial" panose="020B0604020202020204"/>
              </a:rPr>
              <a:t>4. RAG Knowledge Base (1,400+ Questions)  –  </a:t>
            </a:r>
            <a:r>
              <a:rPr sz="1400">
                <a:solidFill>
                  <a:srgbClr val="404040"/>
                </a:solidFill>
                <a:latin typeface="Arial" panose="020B0604020202020204"/>
              </a:rPr>
              <a:t>Technical, behavioral, and HR questions across 8 roles, embedded using IBM Granite's embedding model and stored as a vector store.</a:t>
            </a:r>
            <a:endParaRPr sz="1400">
              <a:solidFill>
                <a:srgbClr val="404040"/>
              </a:solidFill>
              <a:latin typeface="Arial" panose="020B0604020202020204"/>
            </a:endParaRP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Arial" panose="020B0604020202020204"/>
              </a:rPr>
              <a:t>5. Semantic Retrieval  –  </a:t>
            </a:r>
            <a:r>
              <a:rPr sz="1400">
                <a:solidFill>
                  <a:srgbClr val="404040"/>
                </a:solidFill>
                <a:latin typeface="Arial" panose="020B0604020202020204"/>
              </a:rPr>
              <a:t>The candidate's profile is embedded and compared against the question bank using cosine similarity to retrieve the most relevant questions.</a:t>
            </a:r>
            <a:endParaRPr sz="1400">
              <a:solidFill>
                <a:srgbClr val="404040"/>
              </a:solidFill>
              <a:latin typeface="Arial" panose="020B0604020202020204"/>
            </a:endParaRP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Arial" panose="020B0604020202020204"/>
              </a:rPr>
              <a:t>6. Personalized, Adaptive Interview  –  </a:t>
            </a:r>
            <a:r>
              <a:rPr sz="1400">
                <a:solidFill>
                  <a:srgbClr val="404040"/>
                </a:solidFill>
                <a:latin typeface="Arial" panose="020B0604020202020204"/>
              </a:rPr>
              <a:t>Retrieved questions are tailored by Granite using the candidate's resume + JD context. Difficulty adapts in real time based on answer quality.</a:t>
            </a:r>
            <a:endParaRPr sz="1400">
              <a:solidFill>
                <a:srgbClr val="404040"/>
              </a:solidFill>
              <a:latin typeface="Arial" panose="020B0604020202020204"/>
            </a:endParaRP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A1A1A"/>
                </a:solidFill>
                <a:latin typeface="Arial" panose="020B0604020202020204"/>
              </a:rPr>
              <a:t>7. Evaluation, Report &amp; Prep Plan  –  </a:t>
            </a:r>
            <a:r>
              <a:rPr sz="1400">
                <a:solidFill>
                  <a:srgbClr val="404040"/>
                </a:solidFill>
                <a:latin typeface="Arial" panose="020B0604020202020204"/>
              </a:rPr>
              <a:t>Each answer is scored and given feedback + a model answer via Granite. A final report, retry-weakest-answer, and personalized 7-day prep plan are generated.</a:t>
            </a:r>
            <a:endParaRPr sz="1400">
              <a:solidFill>
                <a:srgbClr val="40404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/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InterviewTwin</a:t>
            </a:r>
            <a:endParaRPr lang="en-US" b="1"/>
          </a:p>
          <a:p>
            <a:r>
              <a:rPr lang="en-US" b="1"/>
              <a:t>Agentic AI</a:t>
            </a:r>
            <a:r>
              <a:rPr lang="en-US"/>
              <a:t> enables InterviewTwin to function as an intelligent, adaptive interviewer rather than a static question generator. Using </a:t>
            </a:r>
            <a:r>
              <a:rPr lang="en-US" b="1"/>
              <a:t>IBM watsonx.ai</a:t>
            </a:r>
            <a:r>
              <a:rPr lang="en-US"/>
              <a:t> and </a:t>
            </a:r>
            <a:r>
              <a:rPr lang="en-US" b="1"/>
              <a:t>IBM Granite models</a:t>
            </a:r>
            <a:r>
              <a:rPr lang="en-US"/>
              <a:t>, it coordinates resume analysis, job description analysis, gap analysis, RAG retrieval, and answer evaluation to deliver a genuinely personalized interview experience.</a:t>
            </a:r>
            <a:endParaRPr lang="en-US"/>
          </a:p>
          <a:p>
            <a:r>
              <a:rPr lang="en-US"/>
              <a:t>Each stage performs a specific role — extracting resume data, analyzing job requirements, retrieving relevant questions, personalizing them, and evaluating answers — while working together. This </a:t>
            </a:r>
            <a:r>
              <a:rPr lang="en-US" b="1"/>
              <a:t>multi-agent approach</a:t>
            </a:r>
            <a:r>
              <a:rPr lang="en-US"/>
              <a:t> ensures every question and evaluation is grounded in the candidate’s real profile, not generic output.</a:t>
            </a:r>
            <a:endParaRPr lang="en-US"/>
          </a:p>
          <a:p>
            <a:r>
              <a:rPr lang="en-US"/>
              <a:t>Agentic AI also brings </a:t>
            </a:r>
            <a:r>
              <a:rPr lang="en-US" b="1"/>
              <a:t>context awareness</a:t>
            </a:r>
            <a:r>
              <a:rPr lang="en-US"/>
              <a:t>, understanding the candidate’s actual skills, projects, and job target to generate tailored questions. It supports </a:t>
            </a:r>
            <a:r>
              <a:rPr lang="en-US" b="1"/>
              <a:t>real-time adaptation</a:t>
            </a:r>
            <a:r>
              <a:rPr lang="en-US"/>
              <a:t>, reinforcing weak areas and advancing to new question types based on how the candidate answers each question.</a:t>
            </a:r>
            <a:endParaRPr lang="en-US"/>
          </a:p>
          <a:p>
            <a:r>
              <a:rPr lang="en-US"/>
              <a:t>Additionally, the gap analysis directly informs which questions get asked, creating a closed feedback loop between resume, job description, and interview content.</a:t>
            </a:r>
            <a:endParaRPr lang="en-US"/>
          </a:p>
          <a:p>
            <a:r>
              <a:rPr lang="en-US"/>
              <a:t>Overall, Agentic AI makes the system proactive, personalized, and goal-driven, acting like a </a:t>
            </a:r>
            <a:r>
              <a:rPr lang="en-US" b="1"/>
              <a:t>real interview coach</a:t>
            </a:r>
            <a:r>
              <a:rPr lang="en-US"/>
              <a:t> that helps candidates walk in genuinely prepared.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Token Usage 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78183" y="1493684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2000" u="sng"/>
              <a:t>After the Prompt</a:t>
            </a:r>
            <a:endParaRPr lang="en-US" sz="2000" u="sn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5855" y="2122805"/>
            <a:ext cx="3368040" cy="41681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9-10 1618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296545"/>
            <a:ext cx="11597640" cy="6264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09144" y="112960"/>
            <a:ext cx="6444496" cy="9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 Candidate Analysis: Job Match &amp; Skill Gaps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1749" y="6320000"/>
            <a:ext cx="10493347" cy="4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>
                <a:solidFill>
                  <a:srgbClr val="333333"/>
                </a:solidFill>
              </a:rPr>
              <a:t>Shows job match score, strong matches, partial matches, and missing skills, generated by IBM Granite.</a:t>
            </a:r>
            <a:endParaRPr lang="en-US" sz="1400" i="1">
              <a:solidFill>
                <a:srgbClr val="333333"/>
              </a:solidFill>
            </a:endParaRPr>
          </a:p>
          <a:p>
            <a:endParaRPr lang="en-IN" sz="2000">
              <a:solidFill>
                <a:srgbClr val="333333"/>
              </a:solidFill>
            </a:endParaRPr>
          </a:p>
        </p:txBody>
      </p:sp>
      <p:pic>
        <p:nvPicPr>
          <p:cNvPr id="283" name="Picture 282" descr="candidate_analysis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671" y="885593"/>
            <a:ext cx="11134819" cy="57152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09144" y="112960"/>
            <a:ext cx="6444496" cy="9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 Personalized Adaptive Interview Question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1749" y="6320000"/>
            <a:ext cx="10493347" cy="4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>
                <a:solidFill>
                  <a:srgbClr val="333333"/>
                </a:solidFill>
              </a:rPr>
              <a:t>A RAG-retrieved question tailored to the candidate’s resume and the job description, with "Why am I being asked this?" explanation.</a:t>
            </a:r>
            <a:endParaRPr lang="en-US" sz="1400" i="1">
              <a:solidFill>
                <a:srgbClr val="333333"/>
              </a:solidFill>
            </a:endParaRPr>
          </a:p>
          <a:p>
            <a:endParaRPr lang="en-IN" sz="2000">
              <a:solidFill>
                <a:srgbClr val="333333"/>
              </a:solidFill>
            </a:endParaRPr>
          </a:p>
        </p:txBody>
      </p:sp>
      <p:pic>
        <p:nvPicPr>
          <p:cNvPr id="283" name="Picture 282" descr="personalized_question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038" y="1004536"/>
            <a:ext cx="9336768" cy="52884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09144" y="112960"/>
            <a:ext cx="6444496" cy="9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 Final Report, Retry &amp; Prep Plan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1749" y="6320000"/>
            <a:ext cx="10493347" cy="4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>
                <a:solidFill>
                  <a:srgbClr val="333333"/>
                </a:solidFill>
              </a:rPr>
              <a:t>Overall score breakdown, weakest-answer retry with before/after comparison, and a personalized 7-day preparation plan.</a:t>
            </a:r>
            <a:endParaRPr lang="en-US" sz="1400" i="1">
              <a:solidFill>
                <a:srgbClr val="333333"/>
              </a:solidFill>
            </a:endParaRPr>
          </a:p>
          <a:p>
            <a:endParaRPr lang="en-IN" sz="2000">
              <a:solidFill>
                <a:srgbClr val="333333"/>
              </a:solidFill>
            </a:endParaRPr>
          </a:p>
        </p:txBody>
      </p:sp>
      <p:pic>
        <p:nvPicPr>
          <p:cNvPr id="283" name="Picture 282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352" y="900000"/>
            <a:ext cx="10459295" cy="538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WhatsApp Image 2026-09-10 at 4.30.2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775" y="297180"/>
            <a:ext cx="11474450" cy="6263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/>
              <a:t>InterviewTwin stands out by combining </a:t>
            </a:r>
            <a:r>
              <a:rPr lang="en-IN" sz="1800" b="1"/>
              <a:t>Agentic AI, RAG, and personalization</a:t>
            </a:r>
            <a:r>
              <a:rPr lang="en-IN" sz="1800"/>
              <a:t> into a single intelligent interview coach.</a:t>
            </a:r>
            <a:endParaRPr lang="en-IN" sz="1800"/>
          </a:p>
          <a:p>
            <a:endParaRPr lang="en-IN" sz="1800"/>
          </a:p>
          <a:p>
            <a:r>
              <a:rPr lang="en-IN" sz="1800" b="1"/>
              <a:t>Resume + JD Gap Analysis</a:t>
            </a:r>
            <a:r>
              <a:rPr lang="en-IN" sz="1800"/>
              <a:t> – Compares the candidate’s actual resume against the real job description to compute a match score and highlight missing skills before the interview even starts. </a:t>
            </a:r>
            <a:endParaRPr lang="en-IN" sz="1800"/>
          </a:p>
          <a:p>
            <a:r>
              <a:rPr lang="en-IN" sz="1800" b="1"/>
              <a:t>RAG-Based Accuracy</a:t>
            </a:r>
            <a:r>
              <a:rPr lang="en-IN" sz="1800"/>
              <a:t> – Grounds every question in a real 1,400+ question knowledge base via semantic retrieval, instead of letting the LLM invent questions freely. </a:t>
            </a:r>
            <a:endParaRPr lang="en-IN" sz="1800"/>
          </a:p>
          <a:p>
            <a:r>
              <a:rPr lang="en-IN" sz="1800" b="1"/>
              <a:t>Hyper-Personalization</a:t>
            </a:r>
            <a:r>
              <a:rPr lang="en-IN" sz="1800"/>
              <a:t> – Rewrites retrieved questions using the candidate’s actual resume details and the job description’s specific responsibilities. </a:t>
            </a:r>
            <a:endParaRPr lang="en-IN" sz="1800"/>
          </a:p>
          <a:p>
            <a:r>
              <a:rPr lang="en-IN" sz="1800" b="1"/>
              <a:t>Real-Time Adaptive Difficulty</a:t>
            </a:r>
            <a:r>
              <a:rPr lang="en-IN" sz="1800"/>
              <a:t> – Continuously adapts question difficulty and focus area based on the candidate’s </a:t>
            </a:r>
            <a:r>
              <a:rPr lang="en-IN" sz="1800" err="1"/>
              <a:t>answers</a:t>
            </a:r>
            <a:r>
              <a:rPr lang="en-IN" sz="1800"/>
              <a:t>. </a:t>
            </a:r>
            <a:endParaRPr lang="en-IN" sz="1800"/>
          </a:p>
          <a:p>
            <a:r>
              <a:rPr lang="en-IN" sz="1800" b="1"/>
              <a:t>Retry &amp; Improve</a:t>
            </a:r>
            <a:r>
              <a:rPr lang="en-IN" sz="1800"/>
              <a:t> – Lets candidates retry their weakest answer and see a direct before/after improvement comparison. </a:t>
            </a:r>
            <a:endParaRPr lang="en-IN" sz="1800"/>
          </a:p>
          <a:p>
            <a:r>
              <a:rPr lang="en-IN" sz="1800" b="1"/>
              <a:t>Personalized Prep Plan</a:t>
            </a:r>
            <a:r>
              <a:rPr lang="en-IN" sz="1800"/>
              <a:t> – Generates a dynamic 7-day study plan based on the candidate’s actual weak areas and missing skills. </a:t>
            </a:r>
            <a:endParaRPr lang="en-IN" sz="1800"/>
          </a:p>
          <a:p>
            <a:r>
              <a:rPr lang="en-IN" sz="1800" b="1"/>
              <a:t>Scalable &amp; Enterprise-Ready</a:t>
            </a:r>
            <a:r>
              <a:rPr lang="en-IN" sz="1800"/>
              <a:t> – Built on </a:t>
            </a:r>
            <a:r>
              <a:rPr lang="en-IN" sz="1800" b="1"/>
              <a:t>IBM watsonx.ai</a:t>
            </a:r>
            <a:r>
              <a:rPr lang="en-IN" sz="1800"/>
              <a:t> with </a:t>
            </a:r>
            <a:r>
              <a:rPr lang="en-IN" sz="1800" b="1"/>
              <a:t>IBM Granite models</a:t>
            </a:r>
            <a:r>
              <a:rPr lang="en-IN" sz="1800"/>
              <a:t>, ensuring reliability and governance. </a:t>
            </a:r>
            <a:endParaRPr lang="en-IN" sz="1800"/>
          </a:p>
          <a:p>
            <a:endParaRPr lang="en-IN" sz="1800"/>
          </a:p>
          <a:p>
            <a:r>
              <a:rPr lang="en-IN" sz="1800"/>
              <a:t>This makes the solution a </a:t>
            </a:r>
            <a:r>
              <a:rPr lang="en-IN" sz="1800" b="1"/>
              <a:t>smart, adaptive, and proactive interview coach</a:t>
            </a:r>
            <a:r>
              <a:rPr lang="en-IN" sz="1800"/>
              <a:t>, not just a static question generator.</a:t>
            </a:r>
            <a:endParaRPr lang="en-US"/>
          </a:p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Git Hub Link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442210" y="3108325"/>
            <a:ext cx="666051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en-US" sz="1800">
                <a:latin typeface="Arial" panose="020B0604020202020204" pitchFamily="34" charset="0"/>
                <a:ea typeface="Microsoft YaHei" panose="020B0503020204020204" charset="-122"/>
              </a:rPr>
              <a:t>https://github.com/deepanvithakatari/interview-trainer-agent.git</a:t>
            </a:r>
            <a:endParaRPr lang="en-US" altLang="en-US" sz="1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Future Scope 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Interviewer Personality Modes &amp; Trap Detector – </a:t>
            </a:r>
            <a:endParaRPr lang="en-US" sz="1850" b="1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Add selectable interviewer styles (Friendly, Professional, Technical Expert, Stress) and a built-in "trap detector" that flags commonly mishandled questions with tips on how to answer them well.</a:t>
            </a:r>
            <a:endParaRPr lang="en-US" sz="1850" b="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</a:t>
            </a:r>
            <a:r>
              <a:rPr lang="en-US" sz="1850" b="1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Persisted Interview History &amp; Voice-Based Practice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</a:t>
            </a:r>
            <a:endParaRPr lang="en-US" sz="1850" b="0" i="0" u="none" strike="noStrike" cap="none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Store interview attempts across sessions so candidates can track score improvement over time, and add voice-based answer input/output to simulate a real spoken interview more closely.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/>
              <a:t>Certificates Earned:</a:t>
            </a:r>
            <a:endParaRPr lang="en-US" sz="2400" b="1"/>
          </a:p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2048" y="690061"/>
            <a:ext cx="11453139" cy="4603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dirty="0"/>
              <a:t>Getting Started with Artificial Intelligence  </a:t>
            </a:r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175" y="1344930"/>
            <a:ext cx="6826885" cy="50431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 panose="020B0604020202020204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b="1"/>
              <a:t>Add your IBM BOB Certificate</a:t>
            </a:r>
            <a:endParaRPr lang="en-US" sz="20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2950" y="1544320"/>
            <a:ext cx="7568565" cy="46615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9981</Words>
  <Application>WPS Presentation</Application>
  <PresentationFormat>Widescreen</PresentationFormat>
  <Paragraphs>211</Paragraphs>
  <Slides>23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Office Theme</vt:lpstr>
      <vt:lpstr>IBM University Engagement Project Submission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Deepanvitha Katari</cp:lastModifiedBy>
  <cp:revision>4</cp:revision>
  <dcterms:created xsi:type="dcterms:W3CDTF">2025-07-08T05:06:00Z</dcterms:created>
  <dcterms:modified xsi:type="dcterms:W3CDTF">2026-09-11T12:40:41Z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76F7915DC3964D17A73E8DBD6772E2DB_13</vt:lpwstr>
  </property>
  <property fmtid="{D5CDD505-2E9C-101B-9397-08002B2CF9AE}" pid="3" name="KSOProductBuildVer">
    <vt:lpwstr>1033-12.1.0.28485</vt:lpwstr>
  </property>
</Properties>
</file>